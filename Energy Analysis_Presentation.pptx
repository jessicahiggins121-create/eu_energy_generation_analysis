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  <p:sldMasterId id="21474837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Arimo"/>
      <p:regular r:id="rId25"/>
      <p:bold r:id="rId26"/>
      <p:italic r:id="rId27"/>
      <p:boldItalic r:id="rId28"/>
    </p:embeddedFont>
    <p:embeddedFont>
      <p:font typeface="Arimo SemiBold"/>
      <p:regular r:id="rId29"/>
      <p:bold r:id="rId30"/>
      <p:italic r:id="rId31"/>
      <p:boldItalic r:id="rId32"/>
    </p:embeddedFont>
    <p:embeddedFont>
      <p:font typeface="Arimo Medium"/>
      <p:regular r:id="rId33"/>
      <p:bold r:id="rId34"/>
      <p:italic r:id="rId35"/>
      <p:boldItalic r:id="rId36"/>
    </p:embeddedFont>
    <p:embeddedFont>
      <p:font typeface="Helvetica Neue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SemiBold-italic.fntdata"/><Relationship Id="rId30" Type="http://schemas.openxmlformats.org/officeDocument/2006/relationships/font" Target="fonts/ArimoSemiBold-bold.fntdata"/><Relationship Id="rId11" Type="http://schemas.openxmlformats.org/officeDocument/2006/relationships/slide" Target="slides/slide5.xml"/><Relationship Id="rId33" Type="http://schemas.openxmlformats.org/officeDocument/2006/relationships/font" Target="fonts/ArimoMedium-regular.fntdata"/><Relationship Id="rId10" Type="http://schemas.openxmlformats.org/officeDocument/2006/relationships/slide" Target="slides/slide4.xml"/><Relationship Id="rId32" Type="http://schemas.openxmlformats.org/officeDocument/2006/relationships/font" Target="fonts/Arimo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ArimoMedium-italic.fntdata"/><Relationship Id="rId12" Type="http://schemas.openxmlformats.org/officeDocument/2006/relationships/slide" Target="slides/slide6.xml"/><Relationship Id="rId34" Type="http://schemas.openxmlformats.org/officeDocument/2006/relationships/font" Target="fonts/ArimoMedium-bold.fntdata"/><Relationship Id="rId15" Type="http://schemas.openxmlformats.org/officeDocument/2006/relationships/slide" Target="slides/slide9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8.xml"/><Relationship Id="rId36" Type="http://schemas.openxmlformats.org/officeDocument/2006/relationships/font" Target="fonts/Arimo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10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e760c6a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e760c6a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eeb300c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aeeb300c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e760c6a77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e760c6a77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e760c6a77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ae760c6a77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f8bf654d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f8bf654d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Pie chart: Total proportion of 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energy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supply in balance </a:t>
            </a:r>
            <a:b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Gagess show:</a:t>
            </a:r>
            <a:b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 Supply = Net Electricity Produced + (Imports - Exports)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Char char="●"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Gross Available Energy = Final Consumption + Distribution Losses (and sometimes transformation losses, auxiliary loads). 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f8bf654d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f8bf654d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f8bf654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af8bf654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e760c6a77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e760c6a77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MAPE is Mean Absolute Percent Error - because energy production is seasonal it is okay to see the </a:t>
            </a:r>
            <a:r>
              <a:rPr lang="en"/>
              <a:t>renewables</a:t>
            </a:r>
            <a:r>
              <a:rPr lang="en"/>
              <a:t> at 30% </a:t>
            </a:r>
            <a:r>
              <a:rPr lang="en"/>
              <a:t>because</a:t>
            </a:r>
            <a:r>
              <a:rPr lang="en"/>
              <a:t> renewable energy sources can be turned off or on in case of the needs of the </a:t>
            </a:r>
            <a:r>
              <a:rPr lang="en"/>
              <a:t>electricity</a:t>
            </a:r>
            <a:r>
              <a:rPr lang="en"/>
              <a:t> grid to stay stable.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fa5afc32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fa5afc32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MAPE is Mean Absolute Percent Error - because energy production is seasonal it is okay to see the renewables at 30% because renewable energy sources can be turned off or on in case of the needs of the electricity grid to stay stable.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e760c6a77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ae760c6a77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e760c6a77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ae760c6a77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e760c6a77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ae760c6a77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f8bf654dd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af8bf654dd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e760c6a77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ae760c6a77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fa5afc32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afa5afc32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fa5afc32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afa5afc32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afa5afc3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afa5afc3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fa5afc32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afa5afc32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64" name="Google Shape;64;p1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6" name="Google Shape;66;p1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2" name="Google Shape;82;p1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3" name="Google Shape;83;p1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4" name="Google Shape;84;p1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5" name="Google Shape;85;p1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6" name="Google Shape;86;p1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7" name="Google Shape;87;p1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2" name="Google Shape;102;p1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3" name="Google Shape;103;p1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4" name="Google Shape;104;p1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5" name="Google Shape;105;p1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6" name="Google Shape;106;p1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123" name="Google Shape;123;p1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4" name="Google Shape;124;p1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5" name="Google Shape;125;p1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6" name="Google Shape;126;p1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9" name="Google Shape;149;p2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5" name="Google Shape;155;p2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" name="Google Shape;163;p2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1" name="Google Shape;181;p2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2" name="Google Shape;182;p2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" name="Google Shape;183;p2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2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3" name="Google Shape;193;p2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4" name="Google Shape;194;p2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5" name="Google Shape;195;p2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0" name="Google Shape;200;p2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1" name="Google Shape;201;p2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2" name="Google Shape;202;p2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0" name="Google Shape;220;p2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1" name="Google Shape;221;p2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2" name="Google Shape;222;p2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8" name="Google Shape;228;p3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3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4" name="Google Shape;234;p3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5" name="Google Shape;235;p3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6" name="Google Shape;236;p3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7" name="Google Shape;237;p3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3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3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2" name="Google Shape;242;p3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8" name="Google Shape;258;p3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" name="Google Shape;260;p3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1" name="Google Shape;261;p3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2" name="Google Shape;262;p3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3" name="Google Shape;263;p3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4" name="Google Shape;264;p3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5" name="Google Shape;265;p3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68" name="Google Shape;268;p33"/>
          <p:cNvCxnSpPr>
            <a:stCxn id="266" idx="1"/>
            <a:endCxn id="266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3" name="Google Shape;273;p3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5" name="Google Shape;275;p3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7" name="Google Shape;287;p3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95" name="Google Shape;29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4" name="Google Shape;31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4" name="Google Shape;344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4" name="Google Shape;354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0" name="Google Shape;360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8" name="Google Shape;368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9" name="Google Shape;379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loom.com/share/91288529c4a24943a1fed4db8441f4d6" TargetMode="External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loom.com/share/91288529c4a24943a1fed4db8441f4d6" TargetMode="External"/><Relationship Id="rId4" Type="http://schemas.openxmlformats.org/officeDocument/2006/relationships/hyperlink" Target="http://drive.google.com/file/d/1qPESVNZcLwpafLLcjyrUA4WQjf5nQ1js/view" TargetMode="External"/><Relationship Id="rId5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loom.com/share/91288529c4a24943a1fed4db8441f4d6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loom.com/share/3caf6a58b05947eb9411ef5c55758470" TargetMode="External"/><Relationship Id="rId4" Type="http://schemas.openxmlformats.org/officeDocument/2006/relationships/hyperlink" Target="http://drive.google.com/file/d/14k2RaM1ZQXjOIXeyPsHAYl7H31tINKEf/view" TargetMode="External"/><Relationship Id="rId5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hyperlink" Target="https://lookerstudio.google.com/s/vB06pEQJik8" TargetMode="External"/><Relationship Id="rId5" Type="http://schemas.openxmlformats.org/officeDocument/2006/relationships/hyperlink" Target="https://www.visualcrossing.com/resources/documentation/weather-api/timeline-weather-api/" TargetMode="External"/><Relationship Id="rId6" Type="http://schemas.openxmlformats.org/officeDocument/2006/relationships/hyperlink" Target="https://api-ninjas.com/api/population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A visualtimelineanalysis of energy production from the IEA Monthly Energy Statistics data along with population and weather data. </a:t>
            </a:r>
            <a:endParaRPr/>
          </a:p>
        </p:txBody>
      </p:sp>
      <p:sp>
        <p:nvSpPr>
          <p:cNvPr id="398" name="Google Shape;398;p56"/>
          <p:cNvSpPr txBox="1"/>
          <p:nvPr>
            <p:ph idx="3" type="subTitle"/>
          </p:nvPr>
        </p:nvSpPr>
        <p:spPr>
          <a:xfrm>
            <a:off x="79552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Higgins &amp; </a:t>
            </a:r>
            <a:r>
              <a:rPr lang="en"/>
              <a:t>Divya</a:t>
            </a:r>
            <a:r>
              <a:rPr lang="en"/>
              <a:t> Peter</a:t>
            </a:r>
            <a:endParaRPr/>
          </a:p>
        </p:txBody>
      </p:sp>
      <p:sp>
        <p:nvSpPr>
          <p:cNvPr id="399" name="Google Shape;399;p56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12.12.2024</a:t>
            </a:r>
            <a:endParaRPr/>
          </a:p>
        </p:txBody>
      </p:sp>
      <p:sp>
        <p:nvSpPr>
          <p:cNvPr id="400" name="Google Shape;400;p56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Energy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7"/>
          <p:cNvSpPr txBox="1"/>
          <p:nvPr>
            <p:ph type="title"/>
          </p:nvPr>
        </p:nvSpPr>
        <p:spPr>
          <a:xfrm>
            <a:off x="625375" y="2731850"/>
            <a:ext cx="40932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</a:t>
            </a:r>
            <a:r>
              <a:rPr lang="en"/>
              <a:t>: Conduct Analysis of Four </a:t>
            </a:r>
            <a:r>
              <a:rPr b="1" lang="en"/>
              <a:t>European State’s Energy Mix</a:t>
            </a:r>
            <a:endParaRPr b="1"/>
          </a:p>
        </p:txBody>
      </p:sp>
      <p:sp>
        <p:nvSpPr>
          <p:cNvPr id="406" name="Google Shape;406;p57"/>
          <p:cNvSpPr txBox="1"/>
          <p:nvPr/>
        </p:nvSpPr>
        <p:spPr>
          <a:xfrm>
            <a:off x="4908700" y="603800"/>
            <a:ext cx="3678600" cy="22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Research Questions to answer:</a:t>
            </a:r>
            <a:endParaRPr b="1"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AutoNum type="arabicPeriod"/>
            </a:pP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What is the c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urrent energy mix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and how has it 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evolved over the 5 year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intervals?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AutoNum type="arabicPeriod"/>
            </a:pP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How much has been 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imported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exported,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monthly, yearly, overall.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AutoNum type="arabicPeriod"/>
            </a:pP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How much has energy consumption 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grown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in the last 5 years? 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58"/>
          <p:cNvSpPr txBox="1"/>
          <p:nvPr>
            <p:ph type="title"/>
          </p:nvPr>
        </p:nvSpPr>
        <p:spPr>
          <a:xfrm>
            <a:off x="625375" y="536723"/>
            <a:ext cx="7046100" cy="38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Basic vocabulary and metrics to know:</a:t>
            </a:r>
            <a:br>
              <a:rPr lang="en" sz="3100"/>
            </a:br>
            <a:endParaRPr sz="31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b="1" lang="en" sz="1800"/>
              <a:t>Balance</a:t>
            </a:r>
            <a:r>
              <a:rPr lang="en" sz="1800"/>
              <a:t>: How much </a:t>
            </a:r>
            <a:r>
              <a:rPr b="1" lang="en" sz="1800"/>
              <a:t>energy</a:t>
            </a:r>
            <a:r>
              <a:rPr lang="en" sz="1800"/>
              <a:t> is produced imported, exported and lost i</a:t>
            </a:r>
            <a:r>
              <a:rPr b="1" lang="en" sz="1800"/>
              <a:t>n the system</a:t>
            </a:r>
            <a:r>
              <a:rPr lang="en" sz="1800"/>
              <a:t> </a:t>
            </a:r>
            <a:r>
              <a:rPr b="1" lang="en" sz="1800"/>
              <a:t>to match real-time demand</a:t>
            </a:r>
            <a:r>
              <a:rPr lang="en" sz="1800"/>
              <a:t>.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endParaRPr sz="1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800"/>
              <a:t>kWh(</a:t>
            </a:r>
            <a:r>
              <a:rPr b="1" lang="en" sz="1800"/>
              <a:t>KiloWatt hour</a:t>
            </a:r>
            <a:r>
              <a:rPr lang="en" sz="1800"/>
              <a:t>): </a:t>
            </a:r>
            <a:r>
              <a:rPr b="1" lang="en" sz="1800"/>
              <a:t>1000 watts</a:t>
            </a:r>
            <a:r>
              <a:rPr lang="en" sz="1800"/>
              <a:t> used per hour, used to measure consumption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800"/>
              <a:t>GWh (</a:t>
            </a:r>
            <a:r>
              <a:rPr b="1" lang="en" sz="1800"/>
              <a:t>GigaWatt hour</a:t>
            </a:r>
            <a:r>
              <a:rPr lang="en" sz="1800"/>
              <a:t>): </a:t>
            </a:r>
            <a:r>
              <a:rPr b="1" lang="en" sz="1800"/>
              <a:t>1 million kWh</a:t>
            </a:r>
            <a:r>
              <a:rPr lang="en" sz="1800"/>
              <a:t> used in large energy consumption measure making it </a:t>
            </a:r>
            <a:r>
              <a:rPr b="1" lang="en" sz="1800"/>
              <a:t>useful for large grids and monthly country metrics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59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19" name="Google Shape;419;p59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First our data visualisations</a:t>
            </a:r>
            <a:endParaRPr/>
          </a:p>
        </p:txBody>
      </p:sp>
      <p:grpSp>
        <p:nvGrpSpPr>
          <p:cNvPr id="420" name="Google Shape;420;p59"/>
          <p:cNvGrpSpPr/>
          <p:nvPr/>
        </p:nvGrpSpPr>
        <p:grpSpPr>
          <a:xfrm>
            <a:off x="385722" y="527014"/>
            <a:ext cx="8372557" cy="2966058"/>
            <a:chOff x="201275" y="793900"/>
            <a:chExt cx="8553900" cy="3030300"/>
          </a:xfrm>
        </p:grpSpPr>
        <p:sp>
          <p:nvSpPr>
            <p:cNvPr id="421" name="Google Shape;421;p59"/>
            <p:cNvSpPr/>
            <p:nvPr/>
          </p:nvSpPr>
          <p:spPr>
            <a:xfrm>
              <a:off x="201275" y="793900"/>
              <a:ext cx="8553900" cy="3030300"/>
            </a:xfrm>
            <a:prstGeom prst="roundRect">
              <a:avLst>
                <a:gd fmla="val 8677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275" lIns="81275" spcFirstLastPara="1" rIns="81275" wrap="square" tIns="81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4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pic>
          <p:nvPicPr>
            <p:cNvPr id="422" name="Google Shape;422;p59" title="Screen Shot 2025-12-09 at 3.03.06 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77501" y="871300"/>
              <a:ext cx="8389701" cy="287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8" name="Google Shape;428;p60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29" name="Google Shape;429;p60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First our data visualisations</a:t>
            </a:r>
            <a:endParaRPr/>
          </a:p>
        </p:txBody>
      </p:sp>
      <p:pic>
        <p:nvPicPr>
          <p:cNvPr id="430" name="Google Shape;430;p60" title="Balanc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550" y="551175"/>
            <a:ext cx="8045227" cy="40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6" name="Google Shape;436;p61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37" name="Google Shape;437;p61"/>
          <p:cNvSpPr txBox="1"/>
          <p:nvPr>
            <p:ph type="title"/>
          </p:nvPr>
        </p:nvSpPr>
        <p:spPr>
          <a:xfrm>
            <a:off x="2566516" y="2803768"/>
            <a:ext cx="6017400" cy="75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First our data visualisations</a:t>
            </a:r>
            <a:endParaRPr/>
          </a:p>
        </p:txBody>
      </p:sp>
      <p:sp>
        <p:nvSpPr>
          <p:cNvPr id="438" name="Google Shape;438;p61"/>
          <p:cNvSpPr/>
          <p:nvPr/>
        </p:nvSpPr>
        <p:spPr>
          <a:xfrm>
            <a:off x="385722" y="527014"/>
            <a:ext cx="8372557" cy="2966058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75" lIns="81275" spcFirstLastPara="1" rIns="81275" wrap="square" tIns="8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4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39" name="Google Shape;439;p61" title="Screenshot (16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75" y="611500"/>
            <a:ext cx="7982450" cy="271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62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46" name="Google Shape;446;p62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First our data visualisations</a:t>
            </a:r>
            <a:endParaRPr/>
          </a:p>
        </p:txBody>
      </p:sp>
      <p:pic>
        <p:nvPicPr>
          <p:cNvPr id="447" name="Google Shape;447;p62" title="Energymix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975" y="408925"/>
            <a:ext cx="8221099" cy="434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basic models of Germany’s production of energy from renewables and fossil fuels</a:t>
            </a:r>
            <a:endParaRPr/>
          </a:p>
        </p:txBody>
      </p:sp>
      <p:sp>
        <p:nvSpPr>
          <p:cNvPr id="453" name="Google Shape;453;p6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54" name="Google Shape;454;p63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12.12.2025</a:t>
            </a:r>
            <a:endParaRPr/>
          </a:p>
        </p:txBody>
      </p:sp>
      <p:sp>
        <p:nvSpPr>
          <p:cNvPr id="455" name="Google Shape;455;p6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6" name="Google Shape;456;p63"/>
          <p:cNvPicPr preferRelativeResize="0"/>
          <p:nvPr/>
        </p:nvPicPr>
        <p:blipFill rotWithShape="1">
          <a:blip r:embed="rId3">
            <a:alphaModFix amt="10000"/>
          </a:blip>
          <a:srcRect b="14552" l="1068" r="50141" t="20939"/>
          <a:stretch/>
        </p:blipFill>
        <p:spPr>
          <a:xfrm>
            <a:off x="1402801" y="1628975"/>
            <a:ext cx="6457800" cy="32310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57" name="Google Shape;457;p63" title="Screen Shot 2025-12-12 at 3.10.2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4098" y="1807799"/>
            <a:ext cx="5829225" cy="284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basic models of Germany’s production of energy from renewables and fossil fuels</a:t>
            </a:r>
            <a:endParaRPr/>
          </a:p>
        </p:txBody>
      </p:sp>
      <p:sp>
        <p:nvSpPr>
          <p:cNvPr id="463" name="Google Shape;463;p6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64" name="Google Shape;464;p6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12.12.2025</a:t>
            </a:r>
            <a:endParaRPr/>
          </a:p>
        </p:txBody>
      </p:sp>
      <p:sp>
        <p:nvSpPr>
          <p:cNvPr id="465" name="Google Shape;465;p6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6" name="Google Shape;466;p64"/>
          <p:cNvPicPr preferRelativeResize="0"/>
          <p:nvPr/>
        </p:nvPicPr>
        <p:blipFill rotWithShape="1">
          <a:blip r:embed="rId3">
            <a:alphaModFix amt="10000"/>
          </a:blip>
          <a:srcRect b="14552" l="1068" r="50141" t="20939"/>
          <a:stretch/>
        </p:blipFill>
        <p:spPr>
          <a:xfrm>
            <a:off x="1402801" y="1628975"/>
            <a:ext cx="6457800" cy="32310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67" name="Google Shape;467;p64" title="Screen Shot 2025-12-12 at 3.10.4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7324" y="1770676"/>
            <a:ext cx="5744400" cy="292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65"/>
          <p:cNvPicPr preferRelativeResize="0"/>
          <p:nvPr/>
        </p:nvPicPr>
        <p:blipFill rotWithShape="1">
          <a:blip r:embed="rId3">
            <a:alphaModFix amt="10000"/>
          </a:blip>
          <a:srcRect b="13596" l="3713" r="77643" t="20941"/>
          <a:stretch/>
        </p:blipFill>
        <p:spPr>
          <a:xfrm>
            <a:off x="4212502" y="1591825"/>
            <a:ext cx="19620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 rotWithShape="1">
          <a:blip r:embed="rId3">
            <a:alphaModFix amt="10000"/>
          </a:blip>
          <a:srcRect b="13596" l="3713" r="77643" t="20941"/>
          <a:stretch/>
        </p:blipFill>
        <p:spPr>
          <a:xfrm>
            <a:off x="6395776" y="1591825"/>
            <a:ext cx="19620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74" name="Google Shape;474;p6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475" name="Google Shape;475;p65"/>
          <p:cNvSpPr/>
          <p:nvPr/>
        </p:nvSpPr>
        <p:spPr>
          <a:xfrm>
            <a:off x="4383291" y="19955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6" name="Google Shape;476;p65"/>
          <p:cNvSpPr/>
          <p:nvPr/>
        </p:nvSpPr>
        <p:spPr>
          <a:xfrm>
            <a:off x="6496332" y="19955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7" name="Google Shape;477;p65"/>
          <p:cNvSpPr/>
          <p:nvPr/>
        </p:nvSpPr>
        <p:spPr>
          <a:xfrm>
            <a:off x="4428150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8" name="Google Shape;478;p65"/>
          <p:cNvSpPr/>
          <p:nvPr/>
        </p:nvSpPr>
        <p:spPr>
          <a:xfrm>
            <a:off x="6541191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9" name="Google Shape;479;p6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80" name="Google Shape;480;p6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12.12.2025</a:t>
            </a:r>
            <a:endParaRPr/>
          </a:p>
        </p:txBody>
      </p:sp>
      <p:sp>
        <p:nvSpPr>
          <p:cNvPr id="481" name="Google Shape;481;p6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2" name="Google Shape;482;p65"/>
          <p:cNvSpPr txBox="1"/>
          <p:nvPr>
            <p:ph idx="7" type="subTitle"/>
          </p:nvPr>
        </p:nvSpPr>
        <p:spPr>
          <a:xfrm>
            <a:off x="4371417" y="2306550"/>
            <a:ext cx="1501800" cy="221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Renewables are a growing percent of energy production in Germany, Spain, Norway, Slovak Republic.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5"/>
          <p:cNvSpPr txBox="1"/>
          <p:nvPr>
            <p:ph idx="8" type="subTitle"/>
          </p:nvPr>
        </p:nvSpPr>
        <p:spPr>
          <a:xfrm>
            <a:off x="6566417" y="2419500"/>
            <a:ext cx="1501800" cy="198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Energy production went down during covid and we see less production.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6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us anything!</a:t>
            </a:r>
            <a:endParaRPr/>
          </a:p>
        </p:txBody>
      </p:sp>
      <p:pic>
        <p:nvPicPr>
          <p:cNvPr id="489" name="Google Shape;48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75" y="627900"/>
            <a:ext cx="610500" cy="6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7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pic>
        <p:nvPicPr>
          <p:cNvPr id="496" name="Google Shape;49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75" y="627900"/>
            <a:ext cx="610500" cy="61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7" name="Google Shape;497;p67"/>
          <p:cNvCxnSpPr/>
          <p:nvPr/>
        </p:nvCxnSpPr>
        <p:spPr>
          <a:xfrm>
            <a:off x="5260800" y="278400"/>
            <a:ext cx="0" cy="45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67"/>
          <p:cNvSpPr txBox="1"/>
          <p:nvPr/>
        </p:nvSpPr>
        <p:spPr>
          <a:xfrm>
            <a:off x="5594950" y="3328475"/>
            <a:ext cx="29415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Questions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Please reach out to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name@example.com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9" name="Google Shape;499;p6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67"/>
          <p:cNvSpPr txBox="1"/>
          <p:nvPr/>
        </p:nvSpPr>
        <p:spPr>
          <a:xfrm>
            <a:off x="672475" y="2249289"/>
            <a:ext cx="3940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mo"/>
              <a:buChar char="●"/>
            </a:pPr>
            <a:r>
              <a:rPr b="1" lang="en" sz="12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Looker Studio Energy Analytics Dashboard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Packages: darts and pandas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Data we used 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International Energy 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Agency</a:t>
            </a: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Monthly Energy Statistics 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Weather Data</a:t>
            </a: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b="1" lang="en" sz="12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VisualCrossing 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Population data</a:t>
            </a: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b="1" lang="en" sz="12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6"/>
              </a:rPr>
              <a:t>API NINJA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506" name="Google Shape;506;p68"/>
          <p:cNvSpPr txBox="1"/>
          <p:nvPr/>
        </p:nvSpPr>
        <p:spPr>
          <a:xfrm>
            <a:off x="3779350" y="1140500"/>
            <a:ext cx="4629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●"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Look further into the models and break it down by electricity production source.</a:t>
            </a:r>
            <a:endParaRPr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Compare to the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Nationally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Determined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 Contributions that outlined planned renewable energy production. (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as a covariate - add to models )</a:t>
            </a:r>
            <a:endParaRPr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Look into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commitments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 on electricity infrastructure transmission (</a:t>
            </a:r>
            <a:r>
              <a:rPr b="1" lang="en">
                <a:latin typeface="Arimo"/>
                <a:ea typeface="Arimo"/>
                <a:cs typeface="Arimo"/>
                <a:sym typeface="Arimo"/>
              </a:rPr>
              <a:t>as a covariate - add to models )</a:t>
            </a:r>
            <a:endParaRPr b="1"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mo"/>
              <a:buChar char="●"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Automate the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update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 of data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monthly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 in dashboard from the IEA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in the process</a:t>
            </a:r>
            <a:endParaRPr/>
          </a:p>
        </p:txBody>
      </p:sp>
      <p:cxnSp>
        <p:nvCxnSpPr>
          <p:cNvPr descr="A timeline stretching across several years. " id="512" name="Google Shape;512;p69"/>
          <p:cNvCxnSpPr/>
          <p:nvPr/>
        </p:nvCxnSpPr>
        <p:spPr>
          <a:xfrm>
            <a:off x="282300" y="2869750"/>
            <a:ext cx="857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13" name="Google Shape;513;p69"/>
          <p:cNvSpPr txBox="1"/>
          <p:nvPr/>
        </p:nvSpPr>
        <p:spPr>
          <a:xfrm>
            <a:off x="2823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Gather data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Data sources: 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IEA Monthly Energy Statistics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API NINJA - Historical Population 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Visual Corssing Weather data</a:t>
            </a: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14" name="Google Shape;514;p69"/>
          <p:cNvSpPr txBox="1"/>
          <p:nvPr/>
        </p:nvSpPr>
        <p:spPr>
          <a:xfrm>
            <a:off x="172327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Data Wrangling 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Celebrate your first major achievement. This could be a new feature, your 100th user or download, etc.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15" name="Google Shape;515;p69"/>
          <p:cNvSpPr txBox="1"/>
          <p:nvPr/>
        </p:nvSpPr>
        <p:spPr>
          <a:xfrm>
            <a:off x="31642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Building Dashboards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This can be an extension of your previous milestone, or something completely new. 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16" name="Google Shape;516;p69"/>
          <p:cNvSpPr txBox="1"/>
          <p:nvPr/>
        </p:nvSpPr>
        <p:spPr>
          <a:xfrm>
            <a:off x="46052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Modeling</a:t>
            </a: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energy mix composition using Darts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Describe any major organizational events, such as mergers or acquisitions. 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17" name="Google Shape;517;p69"/>
          <p:cNvSpPr txBox="1"/>
          <p:nvPr/>
        </p:nvSpPr>
        <p:spPr>
          <a:xfrm>
            <a:off x="604615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Apply to other countries data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List any new features, product lines, subscriber tiers, or marketing activities.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18" name="Google Shape;518;p69"/>
          <p:cNvSpPr txBox="1"/>
          <p:nvPr/>
        </p:nvSpPr>
        <p:spPr>
          <a:xfrm>
            <a:off x="74871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Mention current efforts, such as features you're launching or opportunities you're pursuing. If possible, connect these to the purpose of the demo.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519" name="Google Shape;519;p69"/>
          <p:cNvCxnSpPr/>
          <p:nvPr/>
        </p:nvCxnSpPr>
        <p:spPr>
          <a:xfrm>
            <a:off x="9699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69"/>
          <p:cNvCxnSpPr/>
          <p:nvPr/>
        </p:nvCxnSpPr>
        <p:spPr>
          <a:xfrm>
            <a:off x="24100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69"/>
          <p:cNvCxnSpPr/>
          <p:nvPr/>
        </p:nvCxnSpPr>
        <p:spPr>
          <a:xfrm>
            <a:off x="38500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69"/>
          <p:cNvCxnSpPr/>
          <p:nvPr/>
        </p:nvCxnSpPr>
        <p:spPr>
          <a:xfrm>
            <a:off x="52901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69"/>
          <p:cNvCxnSpPr/>
          <p:nvPr/>
        </p:nvCxnSpPr>
        <p:spPr>
          <a:xfrm>
            <a:off x="67301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69"/>
          <p:cNvCxnSpPr/>
          <p:nvPr/>
        </p:nvCxnSpPr>
        <p:spPr>
          <a:xfrm>
            <a:off x="81702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69"/>
          <p:cNvSpPr/>
          <p:nvPr/>
        </p:nvSpPr>
        <p:spPr>
          <a:xfrm>
            <a:off x="617424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Dec3rd - 6th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6" name="Google Shape;526;p69"/>
          <p:cNvSpPr/>
          <p:nvPr/>
        </p:nvSpPr>
        <p:spPr>
          <a:xfrm>
            <a:off x="2057474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Dec 7th 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7" name="Google Shape;527;p69"/>
          <p:cNvSpPr/>
          <p:nvPr/>
        </p:nvSpPr>
        <p:spPr>
          <a:xfrm>
            <a:off x="3497524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Dec 8th -9th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8" name="Google Shape;528;p69"/>
          <p:cNvSpPr/>
          <p:nvPr/>
        </p:nvSpPr>
        <p:spPr>
          <a:xfrm>
            <a:off x="4937574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Dec. 10th	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9" name="Google Shape;529;p69"/>
          <p:cNvSpPr/>
          <p:nvPr/>
        </p:nvSpPr>
        <p:spPr>
          <a:xfrm>
            <a:off x="6377624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Dec 11th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0" name="Google Shape;530;p69"/>
          <p:cNvSpPr/>
          <p:nvPr/>
        </p:nvSpPr>
        <p:spPr>
          <a:xfrm>
            <a:off x="7810849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rPr>
              <a:t>Today</a:t>
            </a:r>
            <a:endParaRPr sz="8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1" name="Google Shape;531;p69"/>
          <p:cNvSpPr/>
          <p:nvPr/>
        </p:nvSpPr>
        <p:spPr>
          <a:xfrm>
            <a:off x="9399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2" name="Google Shape;532;p69"/>
          <p:cNvSpPr/>
          <p:nvPr/>
        </p:nvSpPr>
        <p:spPr>
          <a:xfrm>
            <a:off x="23800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3" name="Google Shape;533;p69"/>
          <p:cNvSpPr/>
          <p:nvPr/>
        </p:nvSpPr>
        <p:spPr>
          <a:xfrm>
            <a:off x="38200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4" name="Google Shape;534;p69"/>
          <p:cNvSpPr/>
          <p:nvPr/>
        </p:nvSpPr>
        <p:spPr>
          <a:xfrm>
            <a:off x="52601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5" name="Google Shape;535;p69"/>
          <p:cNvSpPr/>
          <p:nvPr/>
        </p:nvSpPr>
        <p:spPr>
          <a:xfrm>
            <a:off x="67001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6" name="Google Shape;536;p69"/>
          <p:cNvSpPr/>
          <p:nvPr/>
        </p:nvSpPr>
        <p:spPr>
          <a:xfrm>
            <a:off x="81402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7" name="Google Shape;537;p6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38" name="Google Shape;538;p6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0"/>
          <p:cNvSpPr txBox="1"/>
          <p:nvPr>
            <p:ph type="title"/>
          </p:nvPr>
        </p:nvSpPr>
        <p:spPr>
          <a:xfrm>
            <a:off x="625375" y="2731850"/>
            <a:ext cx="57603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 - N-BEATS</a:t>
            </a:r>
            <a:endParaRPr/>
          </a:p>
        </p:txBody>
      </p:sp>
      <p:pic>
        <p:nvPicPr>
          <p:cNvPr id="544" name="Google Shape;544;p70" title="Screen Shot 2025-12-12 at 3.15.35 PM.png"/>
          <p:cNvPicPr preferRelativeResize="0"/>
          <p:nvPr/>
        </p:nvPicPr>
        <p:blipFill rotWithShape="1">
          <a:blip r:embed="rId3">
            <a:alphaModFix/>
          </a:blip>
          <a:srcRect b="11101" l="0" r="0" t="11101"/>
          <a:stretch/>
        </p:blipFill>
        <p:spPr>
          <a:xfrm>
            <a:off x="1172975" y="704100"/>
            <a:ext cx="6351274" cy="29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1"/>
          <p:cNvSpPr txBox="1"/>
          <p:nvPr>
            <p:ph type="title"/>
          </p:nvPr>
        </p:nvSpPr>
        <p:spPr>
          <a:xfrm>
            <a:off x="611575" y="2911150"/>
            <a:ext cx="68499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 N-BEATS</a:t>
            </a:r>
            <a:endParaRPr/>
          </a:p>
        </p:txBody>
      </p:sp>
      <p:pic>
        <p:nvPicPr>
          <p:cNvPr id="550" name="Google Shape;550;p71" title="Screen Shot 2025-12-12 at 3.16.08 PM.png"/>
          <p:cNvPicPr preferRelativeResize="0"/>
          <p:nvPr/>
        </p:nvPicPr>
        <p:blipFill rotWithShape="1">
          <a:blip r:embed="rId3">
            <a:alphaModFix/>
          </a:blip>
          <a:srcRect b="0" l="3814" r="3823" t="0"/>
          <a:stretch/>
        </p:blipFill>
        <p:spPr>
          <a:xfrm>
            <a:off x="1903275" y="487575"/>
            <a:ext cx="5147849" cy="32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2"/>
          <p:cNvSpPr txBox="1"/>
          <p:nvPr>
            <p:ph type="title"/>
          </p:nvPr>
        </p:nvSpPr>
        <p:spPr>
          <a:xfrm>
            <a:off x="625375" y="2731850"/>
            <a:ext cx="59946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 - Ensemble Model </a:t>
            </a:r>
            <a:endParaRPr/>
          </a:p>
        </p:txBody>
      </p:sp>
      <p:pic>
        <p:nvPicPr>
          <p:cNvPr id="556" name="Google Shape;556;p72" title="Screen Shot 2025-12-12 at 8.47.4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75" y="910975"/>
            <a:ext cx="3628425" cy="27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72" title="Screen Shot 2025-12-11 at 4.39.2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99550"/>
            <a:ext cx="3730700" cy="27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3"/>
          <p:cNvSpPr txBox="1"/>
          <p:nvPr>
            <p:ph type="title"/>
          </p:nvPr>
        </p:nvSpPr>
        <p:spPr>
          <a:xfrm>
            <a:off x="625375" y="2731850"/>
            <a:ext cx="67395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Checks - Ensemble Model</a:t>
            </a:r>
            <a:endParaRPr/>
          </a:p>
        </p:txBody>
      </p:sp>
      <p:pic>
        <p:nvPicPr>
          <p:cNvPr id="563" name="Google Shape;563;p73" title="Screen Shot 2025-12-11 at 4.48.43 PM.png"/>
          <p:cNvPicPr preferRelativeResize="0"/>
          <p:nvPr/>
        </p:nvPicPr>
        <p:blipFill rotWithShape="1">
          <a:blip r:embed="rId3">
            <a:alphaModFix/>
          </a:blip>
          <a:srcRect b="0" l="6889" r="6889" t="0"/>
          <a:stretch/>
        </p:blipFill>
        <p:spPr>
          <a:xfrm>
            <a:off x="625375" y="910975"/>
            <a:ext cx="3628425" cy="27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73" title="Screen Shot 2025-12-11 at 11.14.07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9546" y="910971"/>
            <a:ext cx="4134832" cy="27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